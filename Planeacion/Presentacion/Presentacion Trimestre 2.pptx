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mgqkGuguIqfYXQRVZ29z2m9nd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/>
          <p:nvPr>
            <p:ph type="title"/>
          </p:nvPr>
        </p:nvSpPr>
        <p:spPr>
          <a:xfrm>
            <a:off x="529261" y="379909"/>
            <a:ext cx="1830070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476612" y="1314177"/>
            <a:ext cx="5401945" cy="31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/>
          <p:nvPr>
            <p:ph type="ctrTitle"/>
          </p:nvPr>
        </p:nvSpPr>
        <p:spPr>
          <a:xfrm>
            <a:off x="5087677" y="2233865"/>
            <a:ext cx="2016645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529261" y="379909"/>
            <a:ext cx="1830070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262033"/>
            <a:ext cx="7772399" cy="349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4"/>
          <p:cNvSpPr txBox="1"/>
          <p:nvPr>
            <p:ph type="title"/>
          </p:nvPr>
        </p:nvSpPr>
        <p:spPr>
          <a:xfrm>
            <a:off x="529261" y="379909"/>
            <a:ext cx="1830070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9"/>
          <p:cNvSpPr txBox="1"/>
          <p:nvPr>
            <p:ph type="title"/>
          </p:nvPr>
        </p:nvSpPr>
        <p:spPr>
          <a:xfrm>
            <a:off x="529261" y="379909"/>
            <a:ext cx="1830070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9"/>
          <p:cNvSpPr txBox="1"/>
          <p:nvPr>
            <p:ph idx="1" type="body"/>
          </p:nvPr>
        </p:nvSpPr>
        <p:spPr>
          <a:xfrm>
            <a:off x="476612" y="1314177"/>
            <a:ext cx="5401945" cy="31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type="title"/>
          </p:nvPr>
        </p:nvSpPr>
        <p:spPr>
          <a:xfrm>
            <a:off x="1036696" y="2549805"/>
            <a:ext cx="3757929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>
                <a:solidFill>
                  <a:srgbClr val="3E3E3E"/>
                </a:solidFill>
              </a:rPr>
              <a:t>DataGoal</a:t>
            </a:r>
            <a:endParaRPr sz="5400"/>
          </a:p>
        </p:txBody>
      </p:sp>
      <p:pic>
        <p:nvPicPr>
          <p:cNvPr descr="Logo data goal"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247900"/>
            <a:ext cx="2438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4972227" y="3324314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3" y="0"/>
                </a:lnTo>
              </a:path>
            </a:pathLst>
          </a:custGeom>
          <a:noFill/>
          <a:ln cap="flat" cmpd="sng" w="12675">
            <a:solidFill>
              <a:srgbClr val="37A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" name="Google Shape;59;p2"/>
          <p:cNvSpPr txBox="1"/>
          <p:nvPr/>
        </p:nvSpPr>
        <p:spPr>
          <a:xfrm>
            <a:off x="4680185" y="3429000"/>
            <a:ext cx="2831630" cy="1036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8460" lvl="0" marL="39052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latin typeface="Times New Roman"/>
                <a:ea typeface="Times New Roman"/>
                <a:cs typeface="Times New Roman"/>
                <a:sym typeface="Times New Roman"/>
              </a:rPr>
              <a:t>Brayan David Martinez Hincapié</a:t>
            </a:r>
            <a:endParaRPr/>
          </a:p>
          <a:p>
            <a:pPr indent="-378460" lvl="0" marL="390525" marR="508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600">
                <a:latin typeface="Times New Roman"/>
                <a:ea typeface="Times New Roman"/>
                <a:cs typeface="Times New Roman"/>
                <a:sym typeface="Times New Roman"/>
              </a:rPr>
              <a:t>Carlos Alberto Meléndez Correa</a:t>
            </a:r>
            <a:endParaRPr/>
          </a:p>
          <a:p>
            <a:pPr indent="-378460" lvl="0" marL="390525" marR="508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600">
                <a:latin typeface="Times New Roman"/>
                <a:ea typeface="Times New Roman"/>
                <a:cs typeface="Times New Roman"/>
                <a:sym typeface="Times New Roman"/>
              </a:rPr>
              <a:t>Alejandro Bocanegra Pérez </a:t>
            </a:r>
            <a:endParaRPr/>
          </a:p>
          <a:p>
            <a:pPr indent="-378460" lvl="0" marL="390525" marR="508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600">
                <a:latin typeface="Times New Roman"/>
                <a:ea typeface="Times New Roman"/>
                <a:cs typeface="Times New Roman"/>
                <a:sym typeface="Times New Roman"/>
              </a:rPr>
              <a:t>Juan Diaz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ctrTitle"/>
          </p:nvPr>
        </p:nvSpPr>
        <p:spPr>
          <a:xfrm>
            <a:off x="2209800" y="1341720"/>
            <a:ext cx="7772400" cy="149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>
                <a:solidFill>
                  <a:srgbClr val="4D4D4C"/>
                </a:solidFill>
              </a:rPr>
              <a:t>Sistema de información para la gestión y análisis de datos deportivos en la escuela de fútbol </a:t>
            </a:r>
            <a:r>
              <a:rPr lang="es-MX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CANTERA PATRIOTA SB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972227" y="3324314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3" y="0"/>
                </a:lnTo>
              </a:path>
            </a:pathLst>
          </a:custGeom>
          <a:noFill/>
          <a:ln cap="flat" cmpd="sng" w="12675">
            <a:solidFill>
              <a:srgbClr val="37A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 txBox="1"/>
          <p:nvPr>
            <p:ph type="title"/>
          </p:nvPr>
        </p:nvSpPr>
        <p:spPr>
          <a:xfrm>
            <a:off x="3276600" y="2499258"/>
            <a:ext cx="7315200" cy="1859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/>
              <a:t>FORMULACIÓN DEL PROYECTO </a:t>
            </a:r>
            <a:endParaRPr sz="6000"/>
          </a:p>
        </p:txBody>
      </p:sp>
      <p:sp>
        <p:nvSpPr>
          <p:cNvPr id="72" name="Google Shape;72;p4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2745269" y="2396048"/>
            <a:ext cx="6701462" cy="149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>
                <a:solidFill>
                  <a:srgbClr val="00B050"/>
                </a:solidFill>
              </a:rPr>
              <a:t>Objetivo General </a:t>
            </a:r>
            <a:br>
              <a:rPr lang="es-MX">
                <a:solidFill>
                  <a:srgbClr val="4D4D4C"/>
                </a:solidFill>
              </a:rPr>
            </a:br>
            <a:endParaRPr>
              <a:solidFill>
                <a:srgbClr val="4D4D4C"/>
              </a:solidFill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983269" y="3886200"/>
            <a:ext cx="8225462" cy="964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lnSpc>
                <a:spcPct val="9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sistema de información llamado </a:t>
            </a:r>
            <a:r>
              <a:rPr b="1" lang="es-MX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Goal </a:t>
            </a:r>
            <a:r>
              <a:rPr lang="es-MX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permita manejar y analizar los datos deportivos de la Escuela de Fútbol </a:t>
            </a:r>
            <a:r>
              <a:rPr b="1" lang="es-MX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Cantera Patriota SB.</a:t>
            </a:r>
            <a:r>
              <a:rPr lang="es-MX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el fin de optimizar la organización, mejorar la toma de decisiones y fortalecer el proceso de formación deportiva.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4972228" y="3324314"/>
            <a:ext cx="22476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1005840" y="664310"/>
            <a:ext cx="4490899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00B050"/>
                </a:solidFill>
              </a:rPr>
              <a:t>Objetivos Específicos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978408" y="1671755"/>
            <a:ext cx="5029201" cy="3690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769" marR="179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Arial"/>
                <a:ea typeface="Arial"/>
                <a:cs typeface="Arial"/>
                <a:sym typeface="Arial"/>
              </a:rPr>
              <a:t>- Gestionar jugadores y equipos mediante un módulo de registro y actualización de perfiles.</a:t>
            </a:r>
            <a:endParaRPr/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800">
                <a:latin typeface="Arial"/>
                <a:ea typeface="Arial"/>
                <a:cs typeface="Arial"/>
                <a:sym typeface="Arial"/>
              </a:rPr>
              <a:t>- Implementar un sistema para controlar partidos y entrenamientos con sus eventos clave.</a:t>
            </a:r>
            <a:endParaRPr/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800">
                <a:latin typeface="Arial"/>
                <a:ea typeface="Arial"/>
                <a:cs typeface="Arial"/>
                <a:sym typeface="Arial"/>
              </a:rPr>
              <a:t>- Facilitar el análisis del rendimiento con estadísticas y dashboards interactivos.</a:t>
            </a:r>
            <a:endParaRPr/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4769" marR="17907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MX" sz="1800">
                <a:latin typeface="Arial"/>
                <a:ea typeface="Arial"/>
                <a:cs typeface="Arial"/>
                <a:sym typeface="Arial"/>
              </a:rPr>
              <a:t>- Optimizar la organización de torneos con inscripciones, programación y reportes automáticos.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066800" y="1413343"/>
            <a:ext cx="4114800" cy="76200"/>
          </a:xfrm>
          <a:custGeom>
            <a:rect b="b" l="l" r="r" t="t"/>
            <a:pathLst>
              <a:path extrusionOk="0" h="120000" w="1426210">
                <a:moveTo>
                  <a:pt x="0" y="0"/>
                </a:moveTo>
                <a:lnTo>
                  <a:pt x="1425933" y="0"/>
                </a:lnTo>
              </a:path>
            </a:pathLst>
          </a:custGeom>
          <a:noFill/>
          <a:ln cap="flat" cmpd="sng" w="12675">
            <a:solidFill>
              <a:srgbClr val="4D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1231132"/>
            <a:ext cx="5535706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>
            <p:ph type="title"/>
          </p:nvPr>
        </p:nvSpPr>
        <p:spPr>
          <a:xfrm>
            <a:off x="2514600" y="1600200"/>
            <a:ext cx="7315200" cy="2782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/>
              <a:t>Formato de costos y Análisis de proveedores </a:t>
            </a:r>
            <a:endParaRPr sz="6000"/>
          </a:p>
        </p:txBody>
      </p:sp>
      <p:sp>
        <p:nvSpPr>
          <p:cNvPr id="95" name="Google Shape;95;p7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0"/>
            <a:ext cx="688349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529260" y="379909"/>
            <a:ext cx="69383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Cuadro de Cotizaciones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9"/>
          <p:cNvSpPr txBox="1"/>
          <p:nvPr>
            <p:ph idx="1" type="body"/>
          </p:nvPr>
        </p:nvSpPr>
        <p:spPr>
          <a:xfrm>
            <a:off x="476612" y="1314177"/>
            <a:ext cx="5401945" cy="31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57748"/>
            <a:ext cx="12192000" cy="4542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 txBox="1"/>
          <p:nvPr>
            <p:ph type="title"/>
          </p:nvPr>
        </p:nvSpPr>
        <p:spPr>
          <a:xfrm>
            <a:off x="1752600" y="1905006"/>
            <a:ext cx="8686800" cy="2505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Diagrama de caso de uso y documentación de caso de uso</a:t>
            </a:r>
            <a:endParaRPr sz="5400"/>
          </a:p>
        </p:txBody>
      </p:sp>
      <p:sp>
        <p:nvSpPr>
          <p:cNvPr id="116" name="Google Shape;116;p10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529260" y="379909"/>
            <a:ext cx="65573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Partidos y Entrenamientos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225" y="1020232"/>
            <a:ext cx="8601075" cy="56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7044" y="933907"/>
            <a:ext cx="6112770" cy="5809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 txBox="1"/>
          <p:nvPr/>
        </p:nvSpPr>
        <p:spPr>
          <a:xfrm>
            <a:off x="529260" y="379909"/>
            <a:ext cx="65573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Partidos y Entrenamientos</a:t>
            </a:r>
            <a:endParaRPr b="1" i="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529260" y="379909"/>
            <a:ext cx="58715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Equipos y Jugadores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914400"/>
            <a:ext cx="6350567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529260" y="379909"/>
            <a:ext cx="1074833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Equipos y Jugadores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102" y="913309"/>
            <a:ext cx="5397157" cy="5792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>
            <p:ph type="title"/>
          </p:nvPr>
        </p:nvSpPr>
        <p:spPr>
          <a:xfrm>
            <a:off x="1752600" y="3424518"/>
            <a:ext cx="868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Modelo Entidad Relación </a:t>
            </a:r>
            <a:endParaRPr sz="5400"/>
          </a:p>
        </p:txBody>
      </p:sp>
      <p:sp>
        <p:nvSpPr>
          <p:cNvPr id="147" name="Google Shape;147;p15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3350"/>
            <a:ext cx="12192000" cy="65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title"/>
          </p:nvPr>
        </p:nvSpPr>
        <p:spPr>
          <a:xfrm>
            <a:off x="1752600" y="2667000"/>
            <a:ext cx="8686800" cy="1674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Normalización del Modelo Relacional</a:t>
            </a:r>
            <a:endParaRPr sz="5400"/>
          </a:p>
        </p:txBody>
      </p:sp>
      <p:sp>
        <p:nvSpPr>
          <p:cNvPr id="159" name="Google Shape;159;p17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529260" y="379909"/>
            <a:ext cx="739553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Diagrama Relacional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375" y="951046"/>
            <a:ext cx="6787975" cy="60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529261" y="379909"/>
            <a:ext cx="1830070" cy="57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476612" y="1314177"/>
            <a:ext cx="5401945" cy="31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087"/>
            <a:ext cx="7543800" cy="339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11256" t="0"/>
          <a:stretch/>
        </p:blipFill>
        <p:spPr>
          <a:xfrm>
            <a:off x="5878557" y="953950"/>
            <a:ext cx="6273102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 rotWithShape="1">
          <a:blip r:embed="rId5">
            <a:alphaModFix/>
          </a:blip>
          <a:srcRect b="32800" l="0" r="0" t="0"/>
          <a:stretch/>
        </p:blipFill>
        <p:spPr>
          <a:xfrm>
            <a:off x="40341" y="3645375"/>
            <a:ext cx="5912096" cy="2779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248400" y="5562600"/>
            <a:ext cx="5181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latin typeface="Times New Roman"/>
                <a:ea typeface="Times New Roman"/>
                <a:cs typeface="Times New Roman"/>
                <a:sym typeface="Times New Roman"/>
              </a:rPr>
              <a:t>Normalización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>
            <p:ph type="title"/>
          </p:nvPr>
        </p:nvSpPr>
        <p:spPr>
          <a:xfrm>
            <a:off x="1752600" y="3352800"/>
            <a:ext cx="868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Diccionario de Datos</a:t>
            </a:r>
            <a:endParaRPr sz="5400"/>
          </a:p>
        </p:txBody>
      </p:sp>
      <p:sp>
        <p:nvSpPr>
          <p:cNvPr id="182" name="Google Shape;182;p20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476612" y="491676"/>
            <a:ext cx="57841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Diccionario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476612" y="1314177"/>
            <a:ext cx="5401945" cy="31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94" y="1314179"/>
            <a:ext cx="10859303" cy="55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type="title"/>
          </p:nvPr>
        </p:nvSpPr>
        <p:spPr>
          <a:xfrm>
            <a:off x="1752600" y="3352800"/>
            <a:ext cx="868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Diagrama de clases </a:t>
            </a:r>
            <a:endParaRPr sz="5400"/>
          </a:p>
        </p:txBody>
      </p:sp>
      <p:sp>
        <p:nvSpPr>
          <p:cNvPr id="196" name="Google Shape;196;p22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476612" y="491676"/>
            <a:ext cx="57841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Diagrama de clases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23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925" y="1067924"/>
            <a:ext cx="6318949" cy="579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>
            <p:ph type="title"/>
          </p:nvPr>
        </p:nvSpPr>
        <p:spPr>
          <a:xfrm>
            <a:off x="1752600" y="3352800"/>
            <a:ext cx="868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Diagrama de Despliegue</a:t>
            </a:r>
            <a:endParaRPr sz="5400"/>
          </a:p>
        </p:txBody>
      </p:sp>
      <p:sp>
        <p:nvSpPr>
          <p:cNvPr id="211" name="Google Shape;211;p24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476612" y="491676"/>
            <a:ext cx="57841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</a:rPr>
              <a:t>Diagrama de Despliegue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" name="Google Shape;218;p25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143000"/>
            <a:ext cx="7286730" cy="559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>
            <p:ph type="title"/>
          </p:nvPr>
        </p:nvSpPr>
        <p:spPr>
          <a:xfrm>
            <a:off x="1752600" y="3352800"/>
            <a:ext cx="868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/>
              <a:t>Control de Versiones GitHub</a:t>
            </a:r>
            <a:endParaRPr sz="5400"/>
          </a:p>
        </p:txBody>
      </p:sp>
      <p:sp>
        <p:nvSpPr>
          <p:cNvPr id="226" name="Google Shape;226;p26"/>
          <p:cNvSpPr/>
          <p:nvPr/>
        </p:nvSpPr>
        <p:spPr>
          <a:xfrm>
            <a:off x="4972050" y="4495800"/>
            <a:ext cx="2247900" cy="0"/>
          </a:xfrm>
          <a:custGeom>
            <a:rect b="b" l="l" r="r" t="t"/>
            <a:pathLst>
              <a:path extrusionOk="0" h="120000" w="2247900">
                <a:moveTo>
                  <a:pt x="0" y="0"/>
                </a:moveTo>
                <a:lnTo>
                  <a:pt x="2247544" y="0"/>
                </a:lnTo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528638" y="379413"/>
            <a:ext cx="9910762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s-MX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Sistema de control de versiones</a:t>
            </a:r>
            <a:endParaRPr b="1"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975" y="1348714"/>
            <a:ext cx="10124052" cy="51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2025-08-19T11:36:00Z</dcterms:created>
  <dc:creator>APRENDIZ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2025-08-19T00:00:00Z</vt:filetime>
  </property>
</Properties>
</file>